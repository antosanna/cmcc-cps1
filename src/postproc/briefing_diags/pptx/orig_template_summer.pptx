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" name="Shape 4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6;p52" descr="Google Shape;6;p5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" y="0"/>
            <a:ext cx="12213934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Google Shape;7;p52" descr="Google Shape;7;p5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665163" y="-689041"/>
            <a:ext cx="6568635" cy="4549927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Google Shape;8;p52"/>
          <p:cNvSpPr txBox="1"/>
          <p:nvPr/>
        </p:nvSpPr>
        <p:spPr>
          <a:xfrm>
            <a:off x="171407" y="5928664"/>
            <a:ext cx="2520131" cy="39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indent="875663">
              <a:defRPr b="1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www.cmcc.it</a:t>
            </a:r>
          </a:p>
        </p:txBody>
      </p:sp>
      <p:pic>
        <p:nvPicPr>
          <p:cNvPr id="18" name="Google Shape;9;p52" descr="Google Shape;9;p5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679582" y="5861429"/>
            <a:ext cx="1645136" cy="408348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itle Text"/>
          <p:cNvSpPr txBox="1"/>
          <p:nvPr>
            <p:ph type="title"/>
          </p:nvPr>
        </p:nvSpPr>
        <p:spPr>
          <a:xfrm>
            <a:off x="1030730" y="2239689"/>
            <a:ext cx="6868862" cy="1325565"/>
          </a:xfrm>
          <a:prstGeom prst="rect">
            <a:avLst/>
          </a:prstGeom>
        </p:spPr>
        <p:txBody>
          <a:bodyPr anchor="ctr"/>
          <a:lstStyle>
            <a:lvl1pPr algn="l"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One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6" name="Body Level One…"/>
          <p:cNvSpPr txBox="1"/>
          <p:nvPr>
            <p:ph type="body" sz="quarter" idx="1"/>
          </p:nvPr>
        </p:nvSpPr>
        <p:spPr>
          <a:xfrm>
            <a:off x="672083" y="1946455"/>
            <a:ext cx="2889264" cy="549241"/>
          </a:xfrm>
          <a:prstGeom prst="rect">
            <a:avLst/>
          </a:prstGeom>
        </p:spPr>
        <p:txBody>
          <a:bodyPr lIns="45699" tIns="45699" rIns="45699" bIns="45699">
            <a:normAutofit fontScale="100000" lnSpcReduction="0"/>
          </a:bodyPr>
          <a:lstStyle>
            <a:lvl1pPr indent="228600">
              <a:defRPr b="1" sz="2800">
                <a:solidFill>
                  <a:srgbClr val="002060"/>
                </a:solidFill>
              </a:defRPr>
            </a:lvl1pPr>
            <a:lvl2pPr indent="228600">
              <a:defRPr b="1" sz="2800">
                <a:solidFill>
                  <a:srgbClr val="002060"/>
                </a:solidFill>
              </a:defRPr>
            </a:lvl2pPr>
            <a:lvl3pPr indent="228600">
              <a:defRPr b="1" sz="2800">
                <a:solidFill>
                  <a:srgbClr val="002060"/>
                </a:solidFill>
              </a:defRPr>
            </a:lvl3pPr>
            <a:lvl4pPr indent="228600">
              <a:defRPr b="1" sz="2800">
                <a:solidFill>
                  <a:srgbClr val="002060"/>
                </a:solidFill>
              </a:defRPr>
            </a:lvl4pPr>
            <a:lvl5pPr indent="228600">
              <a:defRPr b="1" sz="2800">
                <a:solidFill>
                  <a:srgbClr val="00206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Google Shape;23;p82"/>
          <p:cNvSpPr txBox="1"/>
          <p:nvPr>
            <p:ph type="body" sz="quarter" idx="21"/>
          </p:nvPr>
        </p:nvSpPr>
        <p:spPr>
          <a:xfrm>
            <a:off x="658335" y="2622475"/>
            <a:ext cx="3769286" cy="2419292"/>
          </a:xfrm>
          <a:prstGeom prst="rect">
            <a:avLst/>
          </a:prstGeom>
        </p:spPr>
        <p:txBody>
          <a:bodyPr lIns="45699" tIns="45699" rIns="45699" bIns="45699">
            <a:normAutofit fontScale="100000" lnSpcReduction="0"/>
          </a:bodyPr>
          <a:lstStyle/>
          <a:p>
            <a:pPr/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6" descr="Google Shape;14;p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1274" y="0"/>
            <a:ext cx="12203274" cy="102548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15;p6"/>
          <p:cNvSpPr/>
          <p:nvPr/>
        </p:nvSpPr>
        <p:spPr>
          <a:xfrm>
            <a:off x="-151581" y="1019517"/>
            <a:ext cx="12483888" cy="45721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00B0F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" name="Google Shape;16;p6"/>
          <p:cNvSpPr/>
          <p:nvPr/>
        </p:nvSpPr>
        <p:spPr>
          <a:xfrm>
            <a:off x="-11276" y="6786543"/>
            <a:ext cx="12203278" cy="89041"/>
          </a:xfrm>
          <a:prstGeom prst="rect">
            <a:avLst/>
          </a:prstGeom>
          <a:solidFill>
            <a:srgbClr val="4472C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pic>
        <p:nvPicPr>
          <p:cNvPr id="5" name="Google Shape;17;p6" descr="Google Shape;17;p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27799" y="207656"/>
            <a:ext cx="1978360" cy="67542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Text"/>
          <p:cNvSpPr txBox="1"/>
          <p:nvPr>
            <p:ph type="title"/>
          </p:nvPr>
        </p:nvSpPr>
        <p:spPr>
          <a:xfrm>
            <a:off x="328386" y="196867"/>
            <a:ext cx="2375787" cy="65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8463946" y="6224224"/>
            <a:ext cx="273654" cy="26425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image" Target="../media/image20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gif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.gif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8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28;p1"/>
          <p:cNvSpPr txBox="1"/>
          <p:nvPr>
            <p:ph type="ctrTitle"/>
          </p:nvPr>
        </p:nvSpPr>
        <p:spPr>
          <a:xfrm>
            <a:off x="1030731" y="2239689"/>
            <a:ext cx="6868860" cy="1325564"/>
          </a:xfrm>
          <a:prstGeom prst="rect">
            <a:avLst/>
          </a:prstGeom>
        </p:spPr>
        <p:txBody>
          <a:bodyPr/>
          <a:lstStyle>
            <a:lvl1pPr defTabSz="832103">
              <a:defRPr b="0" sz="3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Seasonal Prediction System SPS4</a:t>
            </a:r>
          </a:p>
        </p:txBody>
      </p:sp>
      <p:sp>
        <p:nvSpPr>
          <p:cNvPr id="48" name="Google Shape;29;p1"/>
          <p:cNvSpPr txBox="1"/>
          <p:nvPr/>
        </p:nvSpPr>
        <p:spPr>
          <a:xfrm>
            <a:off x="1039641" y="3854844"/>
            <a:ext cx="5078374" cy="437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lnSpc>
                <a:spcPct val="90000"/>
              </a:lnSpc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ThisM ThisY Outlook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34;p2"/>
          <p:cNvSpPr/>
          <p:nvPr/>
        </p:nvSpPr>
        <p:spPr>
          <a:xfrm>
            <a:off x="627653" y="1470838"/>
            <a:ext cx="8333468" cy="4919804"/>
          </a:xfrm>
          <a:prstGeom prst="roundRect">
            <a:avLst>
              <a:gd name="adj" fmla="val 16667"/>
            </a:avLst>
          </a:prstGeom>
          <a:solidFill>
            <a:srgbClr val="E6ED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51" name="Google Shape;35;p2"/>
          <p:cNvSpPr txBox="1"/>
          <p:nvPr>
            <p:ph type="title"/>
          </p:nvPr>
        </p:nvSpPr>
        <p:spPr>
          <a:xfrm>
            <a:off x="330200" y="17081"/>
            <a:ext cx="9017000" cy="991318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Outline</a:t>
            </a:r>
          </a:p>
        </p:txBody>
      </p:sp>
      <p:grpSp>
        <p:nvGrpSpPr>
          <p:cNvPr id="54" name="Google Shape;36;p2"/>
          <p:cNvGrpSpPr/>
          <p:nvPr/>
        </p:nvGrpSpPr>
        <p:grpSpPr>
          <a:xfrm>
            <a:off x="812614" y="1676530"/>
            <a:ext cx="413214" cy="288782"/>
            <a:chOff x="0" y="3"/>
            <a:chExt cx="413213" cy="288781"/>
          </a:xfrm>
        </p:grpSpPr>
        <p:sp>
          <p:nvSpPr>
            <p:cNvPr id="52" name="Rectangle"/>
            <p:cNvSpPr/>
            <p:nvPr/>
          </p:nvSpPr>
          <p:spPr>
            <a:xfrm flipH="1" rot="10800000">
              <a:off x="0" y="86010"/>
              <a:ext cx="413214" cy="116764"/>
            </a:xfrm>
            <a:prstGeom prst="rect">
              <a:avLst/>
            </a:prstGeom>
            <a:solidFill>
              <a:srgbClr val="61ABD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53" name="Text"/>
            <p:cNvSpPr txBox="1"/>
            <p:nvPr/>
          </p:nvSpPr>
          <p:spPr>
            <a:xfrm rot="10800000">
              <a:off x="45724" y="3"/>
              <a:ext cx="321765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   </a:t>
              </a:r>
            </a:p>
          </p:txBody>
        </p:sp>
      </p:grpSp>
      <p:sp>
        <p:nvSpPr>
          <p:cNvPr id="55" name="Google Shape;37;p2"/>
          <p:cNvSpPr txBox="1"/>
          <p:nvPr/>
        </p:nvSpPr>
        <p:spPr>
          <a:xfrm>
            <a:off x="858337" y="1820919"/>
            <a:ext cx="10282433" cy="81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1. Last month highlights: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observed climate conditions for MM1STR MM1Y</a:t>
            </a:r>
          </a:p>
        </p:txBody>
      </p:sp>
      <p:sp>
        <p:nvSpPr>
          <p:cNvPr id="56" name="Google Shape;38;p2"/>
          <p:cNvSpPr txBox="1"/>
          <p:nvPr/>
        </p:nvSpPr>
        <p:spPr>
          <a:xfrm>
            <a:off x="858337" y="2716034"/>
            <a:ext cx="10282433" cy="811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2. Last lead 1 month evaluation: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MM1STR MM1Y issued in MM2STR MM2Y </a:t>
            </a:r>
          </a:p>
        </p:txBody>
      </p:sp>
      <p:sp>
        <p:nvSpPr>
          <p:cNvPr id="57" name="Google Shape;39;p2"/>
          <p:cNvSpPr txBox="1"/>
          <p:nvPr/>
        </p:nvSpPr>
        <p:spPr>
          <a:xfrm>
            <a:off x="844643" y="3611152"/>
            <a:ext cx="10282433" cy="811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3. Last season forecast evaluation: </a:t>
            </a:r>
          </a:p>
          <a:p>
            <a:pPr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SeAM1 issued in SM1ForeM SM1ForeY</a:t>
            </a:r>
          </a:p>
        </p:txBody>
      </p:sp>
      <p:sp>
        <p:nvSpPr>
          <p:cNvPr id="58" name="Google Shape;40;p2"/>
          <p:cNvSpPr txBox="1"/>
          <p:nvPr/>
        </p:nvSpPr>
        <p:spPr>
          <a:xfrm>
            <a:off x="858337" y="4511659"/>
            <a:ext cx="10282433" cy="1649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4. Outlook for ThisM ThisY lead 1 season (SEA) 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Global outlook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Focus over Europe</a:t>
            </a:r>
          </a:p>
          <a:p>
            <a:pPr lvl="1" indent="342900">
              <a:spcBef>
                <a:spcPts val="400"/>
              </a:spcBef>
              <a:defRPr b="1" sz="24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Summary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45;p3"/>
          <p:cNvSpPr txBox="1"/>
          <p:nvPr>
            <p:ph type="title"/>
          </p:nvPr>
        </p:nvSpPr>
        <p:spPr>
          <a:xfrm>
            <a:off x="330200" y="12700"/>
            <a:ext cx="9017000" cy="986399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Significant Events</a:t>
            </a:r>
          </a:p>
        </p:txBody>
      </p:sp>
      <p:pic>
        <p:nvPicPr>
          <p:cNvPr id="61" name="signif_events.png" descr="signif_events.png"/>
          <p:cNvPicPr>
            <a:picLocks noChangeAspect="1"/>
          </p:cNvPicPr>
          <p:nvPr/>
        </p:nvPicPr>
        <p:blipFill>
          <a:blip r:embed="rId2">
            <a:extLst/>
          </a:blip>
          <a:srcRect l="0" t="15" r="0" b="14"/>
          <a:stretch>
            <a:fillRect/>
          </a:stretch>
        </p:blipFill>
        <p:spPr>
          <a:xfrm>
            <a:off x="2209800" y="1062789"/>
            <a:ext cx="7772400" cy="56738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51;p12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SST anomalies MM1STR MM1Y: ENSO</a:t>
            </a:r>
          </a:p>
        </p:txBody>
      </p:sp>
      <p:pic>
        <p:nvPicPr>
          <p:cNvPr id="64" name="IMG_NINO_TS" descr="IMG_NINO_TS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65704" y="1261431"/>
            <a:ext cx="8181472" cy="52470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57;p13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SST anomalies MM1STR MM1Y: Global</a:t>
            </a:r>
          </a:p>
        </p:txBody>
      </p:sp>
      <p:sp>
        <p:nvSpPr>
          <p:cNvPr id="67" name="Google Shape;58;p13"/>
          <p:cNvSpPr txBox="1"/>
          <p:nvPr/>
        </p:nvSpPr>
        <p:spPr>
          <a:xfrm>
            <a:off x="2205599" y="1014462"/>
            <a:ext cx="7441456" cy="62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 algn="ctr">
              <a:lnSpc>
                <a:spcPct val="90000"/>
              </a:lnSpc>
              <a:defRPr>
                <a:solidFill>
                  <a:srgbClr val="17161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ESA-CCI-OSTIA SST anomalies (1991-2020) for </a:t>
            </a:r>
            <a:r>
              <a:rPr b="1">
                <a:latin typeface="Calibri"/>
                <a:ea typeface="Calibri"/>
                <a:cs typeface="Calibri"/>
                <a:sym typeface="Calibri"/>
              </a:rPr>
              <a:t>MM1YMM1NDDM1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ct val="90000"/>
              </a:lnSpc>
              <a:defRPr b="1" sz="1000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SST data from ESA CCI/OSTIA SST</a:t>
            </a:r>
          </a:p>
        </p:txBody>
      </p:sp>
      <p:pic>
        <p:nvPicPr>
          <p:cNvPr id="68" name="IMG_SST_BOTTOM" descr="IMG_SST_BOTTOM"/>
          <p:cNvPicPr>
            <a:picLocks noChangeAspect="1"/>
          </p:cNvPicPr>
          <p:nvPr/>
        </p:nvPicPr>
        <p:blipFill>
          <a:blip r:embed="rId2">
            <a:extLst/>
          </a:blip>
          <a:srcRect l="19275" t="35048" r="20952" b="0"/>
          <a:stretch>
            <a:fillRect/>
          </a:stretch>
        </p:blipFill>
        <p:spPr>
          <a:xfrm>
            <a:off x="6504605" y="1534566"/>
            <a:ext cx="5139296" cy="5220738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Google Shape;60;p13"/>
          <p:cNvSpPr txBox="1"/>
          <p:nvPr/>
        </p:nvSpPr>
        <p:spPr>
          <a:xfrm>
            <a:off x="685104" y="4471611"/>
            <a:ext cx="4289105" cy="2078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Positive anomalies across the tropical Pacific, with the characteristic warm tongue on the Western coast of South America</a:t>
            </a:r>
          </a:p>
          <a:p>
            <a:pPr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Warm pattern the Atlantic</a:t>
            </a:r>
          </a:p>
          <a:p>
            <a:pPr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solidFill>
                  <a:srgbClr val="08194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warm pattern across the North Pacific slightly Decreased compared to previous month.</a:t>
            </a:r>
          </a:p>
        </p:txBody>
      </p:sp>
      <p:pic>
        <p:nvPicPr>
          <p:cNvPr id="70" name="IMG_SST_TOP" descr="IMG_SST_TOP"/>
          <p:cNvPicPr>
            <a:picLocks noChangeAspect="1"/>
          </p:cNvPicPr>
          <p:nvPr/>
        </p:nvPicPr>
        <p:blipFill>
          <a:blip r:embed="rId2">
            <a:extLst/>
          </a:blip>
          <a:srcRect l="19275" t="5841" r="20952" b="64753"/>
          <a:stretch>
            <a:fillRect/>
          </a:stretch>
        </p:blipFill>
        <p:spPr>
          <a:xfrm>
            <a:off x="328612" y="1637262"/>
            <a:ext cx="5111586" cy="23585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G_ARCTIC_MAP" descr="IMG_ARCTIC_MAP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43724" y="1456894"/>
            <a:ext cx="3956624" cy="2670723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Google Shape;66;p18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Sea-ice anomalies MM1STR MM1Y</a:t>
            </a:r>
          </a:p>
        </p:txBody>
      </p:sp>
      <p:sp>
        <p:nvSpPr>
          <p:cNvPr id="74" name="Google Shape;67;p18"/>
          <p:cNvSpPr txBox="1"/>
          <p:nvPr/>
        </p:nvSpPr>
        <p:spPr>
          <a:xfrm>
            <a:off x="2639496" y="1096796"/>
            <a:ext cx="965251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>
                <a:solidFill>
                  <a:srgbClr val="34A6D8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ARCTIC</a:t>
            </a:r>
          </a:p>
        </p:txBody>
      </p:sp>
      <p:sp>
        <p:nvSpPr>
          <p:cNvPr id="75" name="Google Shape;68;p18"/>
          <p:cNvSpPr txBox="1"/>
          <p:nvPr/>
        </p:nvSpPr>
        <p:spPr>
          <a:xfrm>
            <a:off x="8070901" y="1096796"/>
            <a:ext cx="1422621" cy="288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>
                <a:solidFill>
                  <a:srgbClr val="7030A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ANTARCTIC</a:t>
            </a:r>
          </a:p>
        </p:txBody>
      </p:sp>
      <p:pic>
        <p:nvPicPr>
          <p:cNvPr id="76" name="IMG_ANTARCTIC_MAP" descr="IMG_ANTARCTIC_MAP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07068" y="1456894"/>
            <a:ext cx="4150047" cy="2801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IMG_ANTARCTIC_TS" descr="IMG_ANTARCTIC_TS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149765" y="4271893"/>
            <a:ext cx="3264897" cy="2498243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IMG_ARCTIC_TS" descr="IMG_ARCTIC_TS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30742" y="4143878"/>
            <a:ext cx="3423159" cy="26262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77;p21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T2M anomalies MM1STR MM1Y</a:t>
            </a:r>
          </a:p>
        </p:txBody>
      </p:sp>
      <p:sp>
        <p:nvSpPr>
          <p:cNvPr id="81" name="Google Shape;78;p21"/>
          <p:cNvSpPr txBox="1"/>
          <p:nvPr/>
        </p:nvSpPr>
        <p:spPr>
          <a:xfrm>
            <a:off x="1452215" y="4875791"/>
            <a:ext cx="9791105" cy="808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GLOBAL: t2m</a:t>
            </a:r>
          </a:p>
          <a:p>
            <a:pPr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85750" indent="-285750">
              <a:buClr>
                <a:srgbClr val="000000"/>
              </a:buClr>
              <a:buSzPts val="1600"/>
              <a:buFont typeface="Arial"/>
              <a:buChar char="•"/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EUROPE: t2m</a:t>
            </a:r>
          </a:p>
        </p:txBody>
      </p:sp>
      <p:pic>
        <p:nvPicPr>
          <p:cNvPr id="82" name="IMG_T2M_EU" descr="IMG_T2M_EU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53562" y="1067089"/>
            <a:ext cx="3502810" cy="3809702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IMG_T2M_GLO" descr="IMG_T2M_GLO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06490" y="1067090"/>
            <a:ext cx="5247074" cy="38038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4;p25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/>
          <a:p>
            <a:pPr algn="l">
              <a:defRPr sz="2400"/>
            </a:pPr>
            <a:r>
              <a:t>Hydrological and synoptic parameter anomalies</a:t>
            </a:r>
          </a:p>
          <a:p>
            <a:pPr algn="l">
              <a:defRPr sz="2400"/>
            </a:pPr>
            <a:r>
              <a:t>MM1STR MM1Y</a:t>
            </a:r>
          </a:p>
        </p:txBody>
      </p:sp>
      <p:sp>
        <p:nvSpPr>
          <p:cNvPr id="86" name="Google Shape;85;p25"/>
          <p:cNvSpPr txBox="1"/>
          <p:nvPr/>
        </p:nvSpPr>
        <p:spPr>
          <a:xfrm>
            <a:off x="8017071" y="6058596"/>
            <a:ext cx="1778934" cy="248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250 hPa Zonal Wind (m/s)</a:t>
            </a:r>
          </a:p>
        </p:txBody>
      </p:sp>
      <p:sp>
        <p:nvSpPr>
          <p:cNvPr id="87" name="Google Shape;86;p25"/>
          <p:cNvSpPr txBox="1"/>
          <p:nvPr/>
        </p:nvSpPr>
        <p:spPr>
          <a:xfrm>
            <a:off x="9167790" y="3494871"/>
            <a:ext cx="2326883" cy="248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500 hPa Geopotential Height (m)</a:t>
            </a:r>
          </a:p>
        </p:txBody>
      </p:sp>
      <p:sp>
        <p:nvSpPr>
          <p:cNvPr id="88" name="Google Shape;87;p25"/>
          <p:cNvSpPr txBox="1"/>
          <p:nvPr/>
        </p:nvSpPr>
        <p:spPr>
          <a:xfrm>
            <a:off x="6548850" y="3503419"/>
            <a:ext cx="2137216" cy="248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Mean Sea Level Pressure (hPa)</a:t>
            </a:r>
          </a:p>
        </p:txBody>
      </p:sp>
      <p:pic>
        <p:nvPicPr>
          <p:cNvPr id="89" name="IMG_HYDRO_C3S" descr="IMG_HYDRO_C3S"/>
          <p:cNvPicPr>
            <a:picLocks noChangeAspect="1"/>
          </p:cNvPicPr>
          <p:nvPr/>
        </p:nvPicPr>
        <p:blipFill>
          <a:blip r:embed="rId2">
            <a:extLst/>
          </a:blip>
          <a:srcRect l="625" t="0" r="625" b="0"/>
          <a:stretch>
            <a:fillRect/>
          </a:stretch>
        </p:blipFill>
        <p:spPr>
          <a:xfrm>
            <a:off x="476187" y="1245881"/>
            <a:ext cx="5381977" cy="538198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IMG_MSLP_ANOM" descr="IMG_MSLP_ANO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077811" y="1309384"/>
            <a:ext cx="2727857" cy="2122614"/>
          </a:xfrm>
          <a:prstGeom prst="rect">
            <a:avLst/>
          </a:prstGeom>
          <a:ln w="12700">
            <a:miter lim="400000"/>
          </a:ln>
        </p:spPr>
      </p:pic>
      <p:pic>
        <p:nvPicPr>
          <p:cNvPr id="91" name="IMG_Z500_ANOM" descr="IMG_Z500_ANOM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46732" y="1280644"/>
            <a:ext cx="2769081" cy="2154691"/>
          </a:xfrm>
          <a:prstGeom prst="rect">
            <a:avLst/>
          </a:prstGeom>
          <a:ln w="12700">
            <a:miter lim="400000"/>
          </a:ln>
        </p:spPr>
      </p:pic>
      <p:pic>
        <p:nvPicPr>
          <p:cNvPr id="92" name="IMG_U250_ANOM" descr="IMG_U250_ANOM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435461" y="3838195"/>
            <a:ext cx="2907563" cy="22624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6;p27"/>
          <p:cNvSpPr txBox="1"/>
          <p:nvPr>
            <p:ph type="title"/>
          </p:nvPr>
        </p:nvSpPr>
        <p:spPr>
          <a:xfrm>
            <a:off x="1177407" y="2806786"/>
            <a:ext cx="9837185" cy="1244429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70C0"/>
                </a:solidFill>
              </a:defRPr>
            </a:pPr>
            <a:r>
              <a:t>Lead 1 month forecast evaluation</a:t>
            </a:r>
            <a:br/>
            <a:r>
              <a:t> issued in MM2STR MM2Y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01;p30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Evaluation: lead 1 month issued in MM2STR MM2Y</a:t>
            </a:r>
          </a:p>
        </p:txBody>
      </p:sp>
      <p:pic>
        <p:nvPicPr>
          <p:cNvPr id="97" name="IMG_COLORBAR" descr="IMG_COLORBAR"/>
          <p:cNvPicPr>
            <a:picLocks noChangeAspect="1"/>
          </p:cNvPicPr>
          <p:nvPr/>
        </p:nvPicPr>
        <p:blipFill>
          <a:blip r:embed="rId2">
            <a:extLst/>
          </a:blip>
          <a:srcRect l="91226" t="5112" r="1195" b="0"/>
          <a:stretch>
            <a:fillRect/>
          </a:stretch>
        </p:blipFill>
        <p:spPr>
          <a:xfrm>
            <a:off x="10732957" y="1054408"/>
            <a:ext cx="488726" cy="5712303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IMG_T2M_EVAL_EU" descr="IMG_T2M_EVAL_EU"/>
          <p:cNvPicPr>
            <a:picLocks noChangeAspect="1"/>
          </p:cNvPicPr>
          <p:nvPr/>
        </p:nvPicPr>
        <p:blipFill>
          <a:blip r:embed="rId3">
            <a:extLst/>
          </a:blip>
          <a:srcRect l="15969" t="0" r="17857" b="0"/>
          <a:stretch>
            <a:fillRect/>
          </a:stretch>
        </p:blipFill>
        <p:spPr>
          <a:xfrm>
            <a:off x="5998645" y="1054411"/>
            <a:ext cx="4069281" cy="5712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IMG_PRECIP_EVAL_EU" descr="IMG_PRECIP_EVAL_EU"/>
          <p:cNvPicPr>
            <a:picLocks noChangeAspect="1"/>
          </p:cNvPicPr>
          <p:nvPr/>
        </p:nvPicPr>
        <p:blipFill>
          <a:blip r:embed="rId4">
            <a:extLst/>
          </a:blip>
          <a:srcRect l="19499" t="0" r="20410" b="0"/>
          <a:stretch>
            <a:fillRect/>
          </a:stretch>
        </p:blipFill>
        <p:spPr>
          <a:xfrm>
            <a:off x="1285874" y="1054411"/>
            <a:ext cx="3907355" cy="5712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9;p31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Evaluation: lead 1 month issued in MM2STR MM2Y</a:t>
            </a:r>
          </a:p>
        </p:txBody>
      </p:sp>
      <p:pic>
        <p:nvPicPr>
          <p:cNvPr id="102" name="IMG_COLORBAR" descr="IMG_COLORBAR"/>
          <p:cNvPicPr>
            <a:picLocks noChangeAspect="1"/>
          </p:cNvPicPr>
          <p:nvPr/>
        </p:nvPicPr>
        <p:blipFill>
          <a:blip r:embed="rId2">
            <a:extLst/>
          </a:blip>
          <a:srcRect l="91029" t="5112" r="1196" b="0"/>
          <a:stretch>
            <a:fillRect/>
          </a:stretch>
        </p:blipFill>
        <p:spPr>
          <a:xfrm>
            <a:off x="10717965" y="1132112"/>
            <a:ext cx="501453" cy="56237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IMG_PRECIP_EVAL_GLOB" descr="IMG_PRECIP_EVAL_GLOB"/>
          <p:cNvPicPr>
            <a:picLocks noChangeAspect="1"/>
          </p:cNvPicPr>
          <p:nvPr/>
        </p:nvPicPr>
        <p:blipFill>
          <a:blip r:embed="rId3">
            <a:extLst/>
          </a:blip>
          <a:srcRect l="19942" t="0" r="20731" b="0"/>
          <a:stretch>
            <a:fillRect/>
          </a:stretch>
        </p:blipFill>
        <p:spPr>
          <a:xfrm>
            <a:off x="1665214" y="1132112"/>
            <a:ext cx="3468762" cy="562371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IMG_T2M_EVAL_GLOB" descr="IMG_T2M_EVAL_GLOB"/>
          <p:cNvPicPr>
            <a:picLocks noChangeAspect="1"/>
          </p:cNvPicPr>
          <p:nvPr/>
        </p:nvPicPr>
        <p:blipFill>
          <a:blip r:embed="rId4">
            <a:extLst/>
          </a:blip>
          <a:srcRect l="16742" t="0" r="18070" b="0"/>
          <a:stretch>
            <a:fillRect/>
          </a:stretch>
        </p:blipFill>
        <p:spPr>
          <a:xfrm>
            <a:off x="5994172" y="1132112"/>
            <a:ext cx="3706646" cy="56237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17;p32"/>
          <p:cNvSpPr txBox="1"/>
          <p:nvPr/>
        </p:nvSpPr>
        <p:spPr>
          <a:xfrm>
            <a:off x="2500452" y="2920046"/>
            <a:ext cx="7191094" cy="1017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b="1" sz="3200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SeAM1 forecast evaluation</a:t>
            </a:r>
            <a:br/>
            <a:r>
              <a:t> issued in SM1ForeM SM1ForeY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G_NINO_EVAL" descr="IMG_NINO_EVAL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8761" y="1321330"/>
            <a:ext cx="5916813" cy="53271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ACC_sps4_Nino3.4_index_heatmap.png" descr="ACC_sps4_Nino3.4_index_heatmap.png"/>
          <p:cNvPicPr>
            <a:picLocks noChangeAspect="1"/>
          </p:cNvPicPr>
          <p:nvPr/>
        </p:nvPicPr>
        <p:blipFill>
          <a:blip r:embed="rId3">
            <a:extLst/>
          </a:blip>
          <a:srcRect l="0" t="1622" r="0" b="1622"/>
          <a:stretch>
            <a:fillRect/>
          </a:stretch>
        </p:blipFill>
        <p:spPr>
          <a:xfrm>
            <a:off x="8189527" y="3658850"/>
            <a:ext cx="3089844" cy="298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124;p33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100"/>
            </a:lvl1pPr>
          </a:lstStyle>
          <a:p>
            <a:pPr/>
            <a:r>
              <a:t>Evaluation: Nino3.4 (from MM6STR MM6Y to MM1STR MM1Y)</a:t>
            </a:r>
          </a:p>
        </p:txBody>
      </p:sp>
      <p:pic>
        <p:nvPicPr>
          <p:cNvPr id="111" name="Google Shape;125;p33" descr="Google Shape;125;p3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09354" y="1311068"/>
            <a:ext cx="3850191" cy="21872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30;p34"/>
          <p:cNvSpPr txBox="1"/>
          <p:nvPr>
            <p:ph type="title"/>
          </p:nvPr>
        </p:nvSpPr>
        <p:spPr>
          <a:xfrm>
            <a:off x="328611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Sea-ice verification forecast SM1ForeM SM1ForeY</a:t>
            </a:r>
          </a:p>
        </p:txBody>
      </p:sp>
      <p:pic>
        <p:nvPicPr>
          <p:cNvPr id="114" name="IMG_SIE_EVAL" descr="IMG_SIE_EVAL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20089" y="1041256"/>
            <a:ext cx="6351820" cy="57187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36;p35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 maps SeAM1 issued in SM1ForeM SM1ForeY</a:t>
            </a:r>
          </a:p>
        </p:txBody>
      </p:sp>
      <p:pic>
        <p:nvPicPr>
          <p:cNvPr id="117" name="IMG_COLORBAR" descr="IMG_COLORBAR"/>
          <p:cNvPicPr>
            <a:picLocks noChangeAspect="1"/>
          </p:cNvPicPr>
          <p:nvPr/>
        </p:nvPicPr>
        <p:blipFill>
          <a:blip r:embed="rId2">
            <a:extLst/>
          </a:blip>
          <a:srcRect l="91683" t="4862" r="1797" b="250"/>
          <a:stretch>
            <a:fillRect/>
          </a:stretch>
        </p:blipFill>
        <p:spPr>
          <a:xfrm>
            <a:off x="10801273" y="1041879"/>
            <a:ext cx="420410" cy="57248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IMG_T2M_EVAL_GLOB_SEASON" descr="IMG_T2M_EVAL_GLOB_SEAS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22626" y="1041880"/>
            <a:ext cx="3181021" cy="5739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IMG_PRECIP_EVAL_GLOB_SEASON" descr="IMG_PRECIP_EVAL_GLOB_SEAS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14865" y="1041880"/>
            <a:ext cx="3318188" cy="57191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44;p36"/>
          <p:cNvSpPr txBox="1"/>
          <p:nvPr>
            <p:ph type="title"/>
          </p:nvPr>
        </p:nvSpPr>
        <p:spPr>
          <a:xfrm>
            <a:off x="328386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Evaluation maps SeAM1 issued in SM1ForeM SM1ForeY</a:t>
            </a:r>
          </a:p>
        </p:txBody>
      </p:sp>
      <p:pic>
        <p:nvPicPr>
          <p:cNvPr id="122" name="IMG_COLORBAR" descr="IMG_COLORBAR"/>
          <p:cNvPicPr>
            <a:picLocks noChangeAspect="1"/>
          </p:cNvPicPr>
          <p:nvPr/>
        </p:nvPicPr>
        <p:blipFill>
          <a:blip r:embed="rId2">
            <a:extLst/>
          </a:blip>
          <a:srcRect l="91683" t="4861" r="1797" b="250"/>
          <a:stretch>
            <a:fillRect/>
          </a:stretch>
        </p:blipFill>
        <p:spPr>
          <a:xfrm>
            <a:off x="10801270" y="1041353"/>
            <a:ext cx="420411" cy="5714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IMG_T2M_EVAL_EU_SEASON" descr="IMG_T2M_EVAL_EU_SEASON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48760" y="1030992"/>
            <a:ext cx="3128753" cy="57399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IMG_PRECIP_EVAL_EU_SEASON" descr="IMG_PRECIP_EVAL_EU_SEASON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28314" y="1041355"/>
            <a:ext cx="3291292" cy="57191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52;p37"/>
          <p:cNvSpPr txBox="1"/>
          <p:nvPr/>
        </p:nvSpPr>
        <p:spPr>
          <a:xfrm>
            <a:off x="3014802" y="2583200"/>
            <a:ext cx="6151510" cy="1691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FORECAST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issued in ThisM ThisY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IMG_C3S_MME_NINO" descr="IMG_C3S_MME_NIN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05906" y="1324243"/>
            <a:ext cx="6501886" cy="5347776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Google Shape;158;p38"/>
          <p:cNvSpPr txBox="1"/>
          <p:nvPr>
            <p:ph type="title"/>
          </p:nvPr>
        </p:nvSpPr>
        <p:spPr>
          <a:xfrm>
            <a:off x="330200" y="12700"/>
            <a:ext cx="9398000" cy="990600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</a:lstStyle>
          <a:p>
            <a:pPr/>
            <a:r>
              <a:t>Nino3.4 issued in ThisM ThisY – C3S Multi-model</a:t>
            </a:r>
          </a:p>
        </p:txBody>
      </p:sp>
      <p:pic>
        <p:nvPicPr>
          <p:cNvPr id="130" name="Google Shape;159;p38" descr="Google Shape;159;p3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2149" y="2813803"/>
            <a:ext cx="3737111" cy="21230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64;p39"/>
          <p:cNvSpPr txBox="1"/>
          <p:nvPr>
            <p:ph type="title"/>
          </p:nvPr>
        </p:nvSpPr>
        <p:spPr>
          <a:xfrm>
            <a:off x="328384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defRPr sz="2100"/>
            </a:lvl1pPr>
          </a:lstStyle>
          <a:p>
            <a:pPr/>
            <a:r>
              <a:t>Nino3.4 issued in ThisM ThisY – CMCC SPS4</a:t>
            </a:r>
          </a:p>
        </p:txBody>
      </p:sp>
      <p:pic>
        <p:nvPicPr>
          <p:cNvPr id="133" name="IMG_SST_NINO_PROB" descr="IMG_SST_NINO_PROB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9353" y="1687954"/>
            <a:ext cx="5630276" cy="3623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IMG_SST_NINO_MEM" descr="IMG_SST_NINO_ME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18332" y="1648266"/>
            <a:ext cx="6341473" cy="38048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70;p40"/>
          <p:cNvSpPr txBox="1"/>
          <p:nvPr>
            <p:ph type="title"/>
          </p:nvPr>
        </p:nvSpPr>
        <p:spPr>
          <a:xfrm>
            <a:off x="330200" y="12700"/>
            <a:ext cx="9398000" cy="990600"/>
          </a:xfrm>
          <a:prstGeom prst="rect">
            <a:avLst/>
          </a:prstGeom>
        </p:spPr>
        <p:txBody>
          <a:bodyPr/>
          <a:lstStyle/>
          <a:p>
            <a:pPr algn="l">
              <a:defRPr sz="2400">
                <a:solidFill>
                  <a:srgbClr val="FEFFFF"/>
                </a:solidFill>
              </a:defRPr>
            </a:pPr>
            <a:r>
              <a:t>Potential temperature (meridional average 2.5S: 2.5N) </a:t>
            </a:r>
            <a:br/>
            <a:r>
              <a:t>vertical section issued in ThisM ThisY</a:t>
            </a:r>
          </a:p>
        </p:txBody>
      </p:sp>
      <p:pic>
        <p:nvPicPr>
          <p:cNvPr id="137" name="IMG_TPROF_PAC_TROP" descr="IMG_TPROF_PAC_TROP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86237" y="1321261"/>
            <a:ext cx="6592188" cy="52273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76;p41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b="0" sz="22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Indian Ocean Dipole – ThisM ThisY</a:t>
            </a:r>
          </a:p>
        </p:txBody>
      </p:sp>
      <p:grpSp>
        <p:nvGrpSpPr>
          <p:cNvPr id="144" name="Google Shape;177;p41"/>
          <p:cNvGrpSpPr/>
          <p:nvPr/>
        </p:nvGrpSpPr>
        <p:grpSpPr>
          <a:xfrm>
            <a:off x="2050576" y="1309418"/>
            <a:ext cx="8090847" cy="5261504"/>
            <a:chOff x="0" y="0"/>
            <a:chExt cx="8090846" cy="5261502"/>
          </a:xfrm>
        </p:grpSpPr>
        <p:pic>
          <p:nvPicPr>
            <p:cNvPr id="140" name="Google Shape;178;p41" descr="Google Shape;178;p4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178558" y="2833709"/>
              <a:ext cx="3352230" cy="24277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" name="Google Shape;179;p41" descr="Google Shape;179;p41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88762" y="591411"/>
              <a:ext cx="3053288" cy="22112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2" name="Google Shape;180;p41" descr="Google Shape;180;p4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037559" y="2945622"/>
              <a:ext cx="3053288" cy="22112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3" name="Google Shape;181;p41" descr="Google Shape;181;p41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-1"/>
              <a:ext cx="2903313" cy="23320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G_IOD_MEM" descr="IMG_IOD_MEM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3416" y="2406903"/>
            <a:ext cx="4636942" cy="334155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IMG_IOD_PROB" descr="IMG_IOD_PROB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51505" y="2397634"/>
            <a:ext cx="4179200" cy="2856893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Google Shape;188;p42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b="0" sz="22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Indian Ocean Dipole – ThisM ThisY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93;p43"/>
          <p:cNvSpPr txBox="1"/>
          <p:nvPr/>
        </p:nvSpPr>
        <p:spPr>
          <a:xfrm>
            <a:off x="2026923" y="2326025"/>
            <a:ext cx="8138153" cy="2205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FORECAST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Lead1 season (SEA) </a:t>
            </a:r>
          </a:p>
          <a:p>
            <a:pPr algn="ctr">
              <a:lnSpc>
                <a:spcPct val="90000"/>
              </a:lnSpc>
              <a:defRPr sz="3200">
                <a:solidFill>
                  <a:srgbClr val="1A60A6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issued in </a:t>
            </a:r>
            <a:r>
              <a:rPr>
                <a:solidFill>
                  <a:srgbClr val="4472C4"/>
                </a:solidFill>
              </a:rPr>
              <a:t>ThisM ThisY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98;g3e26965f83b_0_43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SST issued in ThisM ThisY</a:t>
            </a:r>
          </a:p>
        </p:txBody>
      </p:sp>
      <p:grpSp>
        <p:nvGrpSpPr>
          <p:cNvPr id="156" name="Google Shape;199;g3e26965f83b_0_43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53" name="Google Shape;200;g3e26965f83b_0_43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54" name="Google Shape;201;g3e26965f83b_0_43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55" name="Google Shape;202;g3e26965f83b_0_43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60" name="Google Shape;203;g3e26965f83b_0_43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57" name="Google Shape;204;g3e26965f83b_0_43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58" name="Google Shape;205;g3e26965f83b_0_43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59" name="Google Shape;206;g3e26965f83b_0_43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61" name="Google Shape;207;g3e26965f83b_0_43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62" name="Google Shape;208;g3e26965f83b_0_43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pic>
        <p:nvPicPr>
          <p:cNvPr id="163" name="IMG_SSTO_FORE_CMCC" descr="IMG_SSTO_FORE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2517" y="1309749"/>
            <a:ext cx="3981577" cy="54072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IMG_SSTO_FORE_MM" descr="IMG_SSTO_FORE_M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0705" y="1304350"/>
            <a:ext cx="4568403" cy="541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215;g3e26965f83b_0_59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MSLP issued in ThisM ThisY</a:t>
            </a:r>
          </a:p>
        </p:txBody>
      </p:sp>
      <p:grpSp>
        <p:nvGrpSpPr>
          <p:cNvPr id="170" name="Google Shape;216;g3e26965f83b_0_59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67" name="Google Shape;217;g3e26965f83b_0_59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68" name="Google Shape;218;g3e26965f83b_0_59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69" name="Google Shape;219;g3e26965f83b_0_59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74" name="Google Shape;220;g3e26965f83b_0_59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71" name="Google Shape;221;g3e26965f83b_0_59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72" name="Google Shape;222;g3e26965f83b_0_59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73" name="Google Shape;223;g3e26965f83b_0_59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75" name="Google Shape;224;g3e26965f83b_0_59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76" name="Google Shape;225;g3e26965f83b_0_59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pic>
        <p:nvPicPr>
          <p:cNvPr id="177" name="IMG_MSLP_FORE_CMCC" descr="IMG_MSLP_FORE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0034" y="1304200"/>
            <a:ext cx="3989527" cy="541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IMG_MSLP_FORE_MM" descr="IMG_MSLP_FORE_M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0667" y="1304200"/>
            <a:ext cx="4568403" cy="541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232;g3e26965f83b_0_75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Z500 issued in ThisM ThisY</a:t>
            </a:r>
          </a:p>
        </p:txBody>
      </p:sp>
      <p:grpSp>
        <p:nvGrpSpPr>
          <p:cNvPr id="184" name="Google Shape;233;g3e26965f83b_0_75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81" name="Google Shape;234;g3e26965f83b_0_75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82" name="Google Shape;235;g3e26965f83b_0_75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83" name="Google Shape;236;g3e26965f83b_0_75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188" name="Google Shape;237;g3e26965f83b_0_75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85" name="Google Shape;238;g3e26965f83b_0_75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86" name="Google Shape;239;g3e26965f83b_0_75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87" name="Google Shape;240;g3e26965f83b_0_75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189" name="Google Shape;241;g3e26965f83b_0_75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190" name="Google Shape;242;g3e26965f83b_0_75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pic>
        <p:nvPicPr>
          <p:cNvPr id="191" name="IMG_Z500_FORE_CMCC" descr="IMG_Z500_FORE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1114" y="1304200"/>
            <a:ext cx="3989527" cy="541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IMG_Z500_FORE_MM" descr="IMG_Z500_FORE_M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0667" y="1304200"/>
            <a:ext cx="4568403" cy="541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249;g3e26965f83b_0_91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PREC issued in ThisM ThisY</a:t>
            </a:r>
          </a:p>
        </p:txBody>
      </p:sp>
      <p:grpSp>
        <p:nvGrpSpPr>
          <p:cNvPr id="198" name="Google Shape;250;g3e26965f83b_0_91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195" name="Google Shape;251;g3e26965f83b_0_91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196" name="Google Shape;252;g3e26965f83b_0_91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197" name="Google Shape;253;g3e26965f83b_0_91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202" name="Google Shape;254;g3e26965f83b_0_91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199" name="Google Shape;255;g3e26965f83b_0_91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00" name="Google Shape;256;g3e26965f83b_0_91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01" name="Google Shape;257;g3e26965f83b_0_91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03" name="Google Shape;258;g3e26965f83b_0_91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204" name="Google Shape;259;g3e26965f83b_0_91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pic>
        <p:nvPicPr>
          <p:cNvPr id="205" name="IMG_RAIN_FORE_CMCC" descr="IMG_RAIN_FORE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70008" y="1304200"/>
            <a:ext cx="3989526" cy="541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IMG_RAIN_FORE_MM" descr="IMG_RAIN_FORE_M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0667" y="1304200"/>
            <a:ext cx="4568403" cy="541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66;g3e26965f83b_0_107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SEA T2M issued in ThisM ThisY</a:t>
            </a:r>
          </a:p>
        </p:txBody>
      </p:sp>
      <p:grpSp>
        <p:nvGrpSpPr>
          <p:cNvPr id="212" name="Google Shape;267;g3e26965f83b_0_107"/>
          <p:cNvGrpSpPr/>
          <p:nvPr/>
        </p:nvGrpSpPr>
        <p:grpSpPr>
          <a:xfrm>
            <a:off x="328579" y="1273611"/>
            <a:ext cx="5215898" cy="5479194"/>
            <a:chOff x="0" y="0"/>
            <a:chExt cx="5215897" cy="5479193"/>
          </a:xfrm>
        </p:grpSpPr>
        <p:sp>
          <p:nvSpPr>
            <p:cNvPr id="209" name="Google Shape;268;g3e26965f83b_0_107"/>
            <p:cNvSpPr/>
            <p:nvPr/>
          </p:nvSpPr>
          <p:spPr>
            <a:xfrm>
              <a:off x="-1" y="-1"/>
              <a:ext cx="5215898" cy="5479194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1D457B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10" name="Google Shape;269;g3e26965f83b_0_107"/>
            <p:cNvSpPr txBox="1"/>
            <p:nvPr/>
          </p:nvSpPr>
          <p:spPr>
            <a:xfrm rot="16200000">
              <a:off x="-809291" y="1133812"/>
              <a:ext cx="2300759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11" name="Google Shape;270;g3e26965f83b_0_107"/>
            <p:cNvSpPr txBox="1"/>
            <p:nvPr/>
          </p:nvSpPr>
          <p:spPr>
            <a:xfrm rot="16200000">
              <a:off x="-423457" y="3915536"/>
              <a:ext cx="1523234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grpSp>
        <p:nvGrpSpPr>
          <p:cNvPr id="216" name="Google Shape;271;g3e26965f83b_0_107"/>
          <p:cNvGrpSpPr/>
          <p:nvPr/>
        </p:nvGrpSpPr>
        <p:grpSpPr>
          <a:xfrm>
            <a:off x="6564043" y="1273608"/>
            <a:ext cx="5123164" cy="5479196"/>
            <a:chOff x="-1" y="0"/>
            <a:chExt cx="5123163" cy="5479194"/>
          </a:xfrm>
        </p:grpSpPr>
        <p:sp>
          <p:nvSpPr>
            <p:cNvPr id="213" name="Google Shape;272;g3e26965f83b_0_107"/>
            <p:cNvSpPr/>
            <p:nvPr/>
          </p:nvSpPr>
          <p:spPr>
            <a:xfrm>
              <a:off x="-2" y="-1"/>
              <a:ext cx="5123165" cy="547919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14" name="Google Shape;273;g3e26965f83b_0_107"/>
            <p:cNvSpPr txBox="1"/>
            <p:nvPr/>
          </p:nvSpPr>
          <p:spPr>
            <a:xfrm rot="16200000">
              <a:off x="-737779" y="1204869"/>
              <a:ext cx="2158664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15" name="Google Shape;274;g3e26965f83b_0_107"/>
            <p:cNvSpPr txBox="1"/>
            <p:nvPr/>
          </p:nvSpPr>
          <p:spPr>
            <a:xfrm rot="16200000">
              <a:off x="-379428" y="3908317"/>
              <a:ext cx="150868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17" name="Google Shape;275;g3e26965f83b_0_107"/>
          <p:cNvSpPr txBox="1"/>
          <p:nvPr/>
        </p:nvSpPr>
        <p:spPr>
          <a:xfrm>
            <a:off x="8315211" y="99443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C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C3S multi-model</a:t>
            </a:r>
          </a:p>
        </p:txBody>
      </p:sp>
      <p:sp>
        <p:nvSpPr>
          <p:cNvPr id="218" name="Google Shape;276;g3e26965f83b_0_107"/>
          <p:cNvSpPr txBox="1"/>
          <p:nvPr/>
        </p:nvSpPr>
        <p:spPr>
          <a:xfrm>
            <a:off x="2344254" y="1006412"/>
            <a:ext cx="1208450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1A60A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CMCC</a:t>
            </a:r>
          </a:p>
        </p:txBody>
      </p:sp>
      <p:pic>
        <p:nvPicPr>
          <p:cNvPr id="219" name="IMG_2MTM_FORE_CMCC" descr="IMG_2MTM_FORE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0631" y="1304200"/>
            <a:ext cx="3989526" cy="541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IMG_2MTM_FORE_MM" descr="IMG_2MTM_FORE_MM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40667" y="1304200"/>
            <a:ext cx="4568403" cy="541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83;g3e26965f83b_0_0"/>
          <p:cNvSpPr txBox="1"/>
          <p:nvPr>
            <p:ph type="title"/>
          </p:nvPr>
        </p:nvSpPr>
        <p:spPr>
          <a:xfrm>
            <a:off x="328385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Europe: Z500 and MSLP</a:t>
            </a:r>
          </a:p>
        </p:txBody>
      </p:sp>
      <p:grpSp>
        <p:nvGrpSpPr>
          <p:cNvPr id="226" name="Google Shape;284;g3e26965f83b_0_0"/>
          <p:cNvGrpSpPr/>
          <p:nvPr/>
        </p:nvGrpSpPr>
        <p:grpSpPr>
          <a:xfrm>
            <a:off x="504725" y="1350038"/>
            <a:ext cx="5040005" cy="5400271"/>
            <a:chOff x="0" y="0"/>
            <a:chExt cx="5040003" cy="5400269"/>
          </a:xfrm>
        </p:grpSpPr>
        <p:sp>
          <p:nvSpPr>
            <p:cNvPr id="223" name="Google Shape;285;g3e26965f83b_0_0"/>
            <p:cNvSpPr/>
            <p:nvPr/>
          </p:nvSpPr>
          <p:spPr>
            <a:xfrm>
              <a:off x="-1" y="-1"/>
              <a:ext cx="5040005" cy="5400270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00B05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24" name="Google Shape;286;g3e26965f83b_0_0"/>
            <p:cNvSpPr txBox="1"/>
            <p:nvPr/>
          </p:nvSpPr>
          <p:spPr>
            <a:xfrm rot="16200000">
              <a:off x="-883416" y="1358248"/>
              <a:ext cx="2369508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25" name="Google Shape;287;g3e26965f83b_0_0"/>
            <p:cNvSpPr txBox="1"/>
            <p:nvPr/>
          </p:nvSpPr>
          <p:spPr>
            <a:xfrm rot="16200000">
              <a:off x="-438781" y="3970562"/>
              <a:ext cx="1466511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r>
                <a:t>Tercile</a:t>
              </a:r>
              <a:r>
                <a:rPr>
                  <a:solidFill>
                    <a:srgbClr val="00B050"/>
                  </a:solidFill>
                </a:rPr>
                <a:t> </a:t>
              </a:r>
              <a:r>
                <a:t>summary</a:t>
              </a:r>
            </a:p>
          </p:txBody>
        </p:sp>
      </p:grpSp>
      <p:grpSp>
        <p:nvGrpSpPr>
          <p:cNvPr id="230" name="Google Shape;288;g3e26965f83b_0_0"/>
          <p:cNvGrpSpPr/>
          <p:nvPr/>
        </p:nvGrpSpPr>
        <p:grpSpPr>
          <a:xfrm>
            <a:off x="6647273" y="1349995"/>
            <a:ext cx="5040003" cy="5407762"/>
            <a:chOff x="0" y="0"/>
            <a:chExt cx="5040002" cy="5407761"/>
          </a:xfrm>
        </p:grpSpPr>
        <p:sp>
          <p:nvSpPr>
            <p:cNvPr id="227" name="Google Shape;289;g3e26965f83b_0_0"/>
            <p:cNvSpPr/>
            <p:nvPr/>
          </p:nvSpPr>
          <p:spPr>
            <a:xfrm>
              <a:off x="-1" y="-1"/>
              <a:ext cx="5040003" cy="5407762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FF93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28" name="Google Shape;290;g3e26965f83b_0_0"/>
            <p:cNvSpPr txBox="1"/>
            <p:nvPr/>
          </p:nvSpPr>
          <p:spPr>
            <a:xfrm rot="16200000">
              <a:off x="-849639" y="1378603"/>
              <a:ext cx="2325611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29" name="Google Shape;291;g3e26965f83b_0_0"/>
            <p:cNvSpPr txBox="1"/>
            <p:nvPr/>
          </p:nvSpPr>
          <p:spPr>
            <a:xfrm rot="16200000">
              <a:off x="-563568" y="3861893"/>
              <a:ext cx="1779569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31" name="Google Shape;292;g3e26965f83b_0_0"/>
          <p:cNvSpPr txBox="1"/>
          <p:nvPr/>
        </p:nvSpPr>
        <p:spPr>
          <a:xfrm>
            <a:off x="8347860" y="1006852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FF93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MSLP</a:t>
            </a:r>
          </a:p>
        </p:txBody>
      </p:sp>
      <p:sp>
        <p:nvSpPr>
          <p:cNvPr id="232" name="Google Shape;293;g3e26965f83b_0_0"/>
          <p:cNvSpPr txBox="1"/>
          <p:nvPr/>
        </p:nvSpPr>
        <p:spPr>
          <a:xfrm>
            <a:off x="2420454" y="1025231"/>
            <a:ext cx="1208453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00B05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Z500</a:t>
            </a:r>
          </a:p>
        </p:txBody>
      </p:sp>
      <p:pic>
        <p:nvPicPr>
          <p:cNvPr id="233" name="IMG_Z500_EURO_CMCC" descr="IMG_Z500_EURO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6275" y="1377063"/>
            <a:ext cx="3936511" cy="53460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IMG_MSLP_EURO_CMCC" descr="IMG_MSLP_EURO_CMCC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89313" y="1377073"/>
            <a:ext cx="3936512" cy="53460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300;g3e26965f83b_0_16"/>
          <p:cNvSpPr txBox="1"/>
          <p:nvPr>
            <p:ph type="title"/>
          </p:nvPr>
        </p:nvSpPr>
        <p:spPr>
          <a:xfrm>
            <a:off x="328612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Europe: T2M and PREC</a:t>
            </a:r>
          </a:p>
        </p:txBody>
      </p:sp>
      <p:grpSp>
        <p:nvGrpSpPr>
          <p:cNvPr id="240" name="Google Shape;301;g3e26965f83b_0_16"/>
          <p:cNvGrpSpPr/>
          <p:nvPr/>
        </p:nvGrpSpPr>
        <p:grpSpPr>
          <a:xfrm>
            <a:off x="504726" y="1339287"/>
            <a:ext cx="5040005" cy="5418602"/>
            <a:chOff x="0" y="0"/>
            <a:chExt cx="5040003" cy="5418601"/>
          </a:xfrm>
        </p:grpSpPr>
        <p:sp>
          <p:nvSpPr>
            <p:cNvPr id="237" name="Google Shape;302;g3e26965f83b_0_16"/>
            <p:cNvSpPr/>
            <p:nvPr/>
          </p:nvSpPr>
          <p:spPr>
            <a:xfrm>
              <a:off x="-1" y="-1"/>
              <a:ext cx="5040005" cy="5418602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7030A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00B050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38" name="Google Shape;303;g3e26965f83b_0_16"/>
            <p:cNvSpPr txBox="1"/>
            <p:nvPr/>
          </p:nvSpPr>
          <p:spPr>
            <a:xfrm rot="16200000">
              <a:off x="-755447" y="1326418"/>
              <a:ext cx="2113552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39" name="Google Shape;304;g3e26965f83b_0_16"/>
            <p:cNvSpPr txBox="1"/>
            <p:nvPr/>
          </p:nvSpPr>
          <p:spPr>
            <a:xfrm rot="16200000">
              <a:off x="-439618" y="3835333"/>
              <a:ext cx="1499452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  <a:r>
                <a:t>Tercile</a:t>
              </a:r>
              <a:r>
                <a:rPr>
                  <a:solidFill>
                    <a:srgbClr val="00B050"/>
                  </a:solidFill>
                </a:rPr>
                <a:t> </a:t>
              </a:r>
              <a:r>
                <a:t>summary</a:t>
              </a:r>
            </a:p>
          </p:txBody>
        </p:sp>
      </p:grpSp>
      <p:grpSp>
        <p:nvGrpSpPr>
          <p:cNvPr id="244" name="Google Shape;305;g3e26965f83b_0_16"/>
          <p:cNvGrpSpPr/>
          <p:nvPr/>
        </p:nvGrpSpPr>
        <p:grpSpPr>
          <a:xfrm>
            <a:off x="6647273" y="1339304"/>
            <a:ext cx="5040003" cy="5418706"/>
            <a:chOff x="0" y="0"/>
            <a:chExt cx="5040002" cy="5418704"/>
          </a:xfrm>
        </p:grpSpPr>
        <p:sp>
          <p:nvSpPr>
            <p:cNvPr id="241" name="Google Shape;306;g3e26965f83b_0_16"/>
            <p:cNvSpPr/>
            <p:nvPr/>
          </p:nvSpPr>
          <p:spPr>
            <a:xfrm>
              <a:off x="-1" y="0"/>
              <a:ext cx="5040003" cy="5418706"/>
            </a:xfrm>
            <a:prstGeom prst="rect">
              <a:avLst/>
            </a:prstGeom>
            <a:solidFill>
              <a:srgbClr val="FFFFFF"/>
            </a:solidFill>
            <a:ln w="15875" cap="flat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42" name="Google Shape;307;g3e26965f83b_0_16"/>
            <p:cNvSpPr txBox="1"/>
            <p:nvPr/>
          </p:nvSpPr>
          <p:spPr>
            <a:xfrm rot="16200000">
              <a:off x="-764447" y="1329218"/>
              <a:ext cx="2119150" cy="288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Ensemble mean anomaly</a:t>
              </a:r>
            </a:p>
          </p:txBody>
        </p:sp>
        <p:sp>
          <p:nvSpPr>
            <p:cNvPr id="243" name="Google Shape;308;g3e26965f83b_0_16"/>
            <p:cNvSpPr txBox="1"/>
            <p:nvPr/>
          </p:nvSpPr>
          <p:spPr>
            <a:xfrm rot="16200000">
              <a:off x="-430496" y="3864703"/>
              <a:ext cx="1488760" cy="2887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+mj-lt"/>
                  <a:ea typeface="+mj-ea"/>
                  <a:cs typeface="+mj-cs"/>
                  <a:sym typeface="Arial"/>
                </a:defRPr>
              </a:lvl1pPr>
            </a:lstStyle>
            <a:p>
              <a:pPr/>
              <a:r>
                <a:t>Tercile summary</a:t>
              </a:r>
            </a:p>
          </p:txBody>
        </p:sp>
      </p:grpSp>
      <p:sp>
        <p:nvSpPr>
          <p:cNvPr id="245" name="Google Shape;309;g3e26965f83b_0_16"/>
          <p:cNvSpPr txBox="1"/>
          <p:nvPr/>
        </p:nvSpPr>
        <p:spPr>
          <a:xfrm>
            <a:off x="8402297" y="1022861"/>
            <a:ext cx="20193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PREC</a:t>
            </a:r>
          </a:p>
        </p:txBody>
      </p:sp>
      <p:sp>
        <p:nvSpPr>
          <p:cNvPr id="246" name="Google Shape;310;g3e26965f83b_0_16"/>
          <p:cNvSpPr txBox="1"/>
          <p:nvPr/>
        </p:nvSpPr>
        <p:spPr>
          <a:xfrm>
            <a:off x="2420455" y="1008112"/>
            <a:ext cx="1208452" cy="32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algn="ctr">
              <a:defRPr b="1" sz="1600">
                <a:solidFill>
                  <a:srgbClr val="7030A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T2M</a:t>
            </a:r>
          </a:p>
        </p:txBody>
      </p:sp>
      <p:pic>
        <p:nvPicPr>
          <p:cNvPr id="247" name="IMG_2MTM_EURO_CMCC" descr="IMG_2MTM_EURO_CMC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1325" y="1375638"/>
            <a:ext cx="3936511" cy="53460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IMG_RAIN_EURO_CMCC" descr="IMG_RAIN_EURO_CMCC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99149" y="1375625"/>
            <a:ext cx="3936512" cy="53460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317;p51"/>
          <p:cNvSpPr txBox="1"/>
          <p:nvPr>
            <p:ph type="title"/>
          </p:nvPr>
        </p:nvSpPr>
        <p:spPr>
          <a:xfrm>
            <a:off x="328613" y="12700"/>
            <a:ext cx="9017001" cy="9906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b="0" sz="24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CMCC SEA over Euro-Mediterranean area</a:t>
            </a:r>
          </a:p>
        </p:txBody>
      </p:sp>
      <p:grpSp>
        <p:nvGrpSpPr>
          <p:cNvPr id="253" name="Google Shape;318;p51"/>
          <p:cNvGrpSpPr/>
          <p:nvPr/>
        </p:nvGrpSpPr>
        <p:grpSpPr>
          <a:xfrm>
            <a:off x="8510088" y="2221475"/>
            <a:ext cx="2400511" cy="736725"/>
            <a:chOff x="0" y="0"/>
            <a:chExt cx="2400509" cy="736723"/>
          </a:xfrm>
        </p:grpSpPr>
        <p:sp>
          <p:nvSpPr>
            <p:cNvPr id="251" name="Rectangle"/>
            <p:cNvSpPr/>
            <p:nvPr/>
          </p:nvSpPr>
          <p:spPr>
            <a:xfrm>
              <a:off x="-1" y="-1"/>
              <a:ext cx="2400510" cy="736724"/>
            </a:xfrm>
            <a:prstGeom prst="rect">
              <a:avLst/>
            </a:prstGeom>
            <a:solidFill>
              <a:srgbClr val="00B050">
                <a:alpha val="37254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52" name="WET"/>
            <p:cNvSpPr txBox="1"/>
            <p:nvPr/>
          </p:nvSpPr>
          <p:spPr>
            <a:xfrm>
              <a:off x="45724" y="-1"/>
              <a:ext cx="2309060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WET</a:t>
              </a:r>
            </a:p>
          </p:txBody>
        </p:sp>
      </p:grpSp>
      <p:grpSp>
        <p:nvGrpSpPr>
          <p:cNvPr id="256" name="Google Shape;319;p51"/>
          <p:cNvGrpSpPr/>
          <p:nvPr/>
        </p:nvGrpSpPr>
        <p:grpSpPr>
          <a:xfrm>
            <a:off x="8504145" y="4298862"/>
            <a:ext cx="2406453" cy="731767"/>
            <a:chOff x="0" y="-1"/>
            <a:chExt cx="2406452" cy="731765"/>
          </a:xfrm>
        </p:grpSpPr>
        <p:sp>
          <p:nvSpPr>
            <p:cNvPr id="254" name="Rectangle"/>
            <p:cNvSpPr/>
            <p:nvPr/>
          </p:nvSpPr>
          <p:spPr>
            <a:xfrm>
              <a:off x="-1" y="-2"/>
              <a:ext cx="2406453" cy="731767"/>
            </a:xfrm>
            <a:prstGeom prst="rect">
              <a:avLst/>
            </a:prstGeom>
            <a:solidFill>
              <a:srgbClr val="FF0000">
                <a:alpha val="3215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55" name="HOT"/>
            <p:cNvSpPr txBox="1"/>
            <p:nvPr/>
          </p:nvSpPr>
          <p:spPr>
            <a:xfrm>
              <a:off x="45724" y="-1"/>
              <a:ext cx="2315002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HOT</a:t>
              </a:r>
            </a:p>
          </p:txBody>
        </p:sp>
      </p:grpSp>
      <p:grpSp>
        <p:nvGrpSpPr>
          <p:cNvPr id="259" name="Google Shape;320;p51"/>
          <p:cNvGrpSpPr/>
          <p:nvPr/>
        </p:nvGrpSpPr>
        <p:grpSpPr>
          <a:xfrm>
            <a:off x="8504145" y="3238809"/>
            <a:ext cx="2406454" cy="759198"/>
            <a:chOff x="0" y="0"/>
            <a:chExt cx="2406453" cy="759196"/>
          </a:xfrm>
        </p:grpSpPr>
        <p:sp>
          <p:nvSpPr>
            <p:cNvPr id="257" name="Rectangle"/>
            <p:cNvSpPr/>
            <p:nvPr/>
          </p:nvSpPr>
          <p:spPr>
            <a:xfrm>
              <a:off x="-1" y="-1"/>
              <a:ext cx="2406454" cy="759197"/>
            </a:xfrm>
            <a:prstGeom prst="rect">
              <a:avLst/>
            </a:prstGeom>
            <a:solidFill>
              <a:srgbClr val="B18701">
                <a:alpha val="37254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+mj-lt"/>
                  <a:ea typeface="+mj-ea"/>
                  <a:cs typeface="+mj-cs"/>
                  <a:sym typeface="Arial"/>
                </a:defRPr>
              </a:pPr>
            </a:p>
          </p:txBody>
        </p:sp>
        <p:sp>
          <p:nvSpPr>
            <p:cNvPr id="258" name="DRY"/>
            <p:cNvSpPr txBox="1"/>
            <p:nvPr/>
          </p:nvSpPr>
          <p:spPr>
            <a:xfrm>
              <a:off x="45725" y="-1"/>
              <a:ext cx="2315003" cy="2807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DRY</a:t>
              </a:r>
            </a:p>
          </p:txBody>
        </p:sp>
      </p:grpSp>
      <p:pic>
        <p:nvPicPr>
          <p:cNvPr id="260" name="IMG_FORECAST_SUMMARY" descr="IMG_FORECAST_SUMMARY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8422" y="1135620"/>
            <a:ext cx="6338773" cy="555331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63" name="Google Shape;322;p51"/>
          <p:cNvGrpSpPr/>
          <p:nvPr/>
        </p:nvGrpSpPr>
        <p:grpSpPr>
          <a:xfrm>
            <a:off x="8504144" y="5331484"/>
            <a:ext cx="2406454" cy="731767"/>
            <a:chOff x="0" y="-1"/>
            <a:chExt cx="2406452" cy="731765"/>
          </a:xfrm>
        </p:grpSpPr>
        <p:sp>
          <p:nvSpPr>
            <p:cNvPr id="261" name="Rectangle"/>
            <p:cNvSpPr/>
            <p:nvPr/>
          </p:nvSpPr>
          <p:spPr>
            <a:xfrm>
              <a:off x="-1" y="-2"/>
              <a:ext cx="2406453" cy="731767"/>
            </a:xfrm>
            <a:prstGeom prst="rect">
              <a:avLst/>
            </a:prstGeom>
            <a:solidFill>
              <a:srgbClr val="27E9F9">
                <a:alpha val="3215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62" name="COLD"/>
            <p:cNvSpPr txBox="1"/>
            <p:nvPr/>
          </p:nvSpPr>
          <p:spPr>
            <a:xfrm>
              <a:off x="45724" y="-1"/>
              <a:ext cx="2315002" cy="280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>
                  <a:solidFill>
                    <a:srgbClr val="FE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COLD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327;p81" descr="Google Shape;327;p8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" y="12288"/>
            <a:ext cx="12213934" cy="6845714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Google Shape;328;p81" descr="Google Shape;328;p8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62966" y="464097"/>
            <a:ext cx="7389595" cy="5118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" name="Google Shape;329;p81" descr="Google Shape;329;p8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89235" y="3957354"/>
            <a:ext cx="1495227" cy="371138"/>
          </a:xfrm>
          <a:prstGeom prst="rect">
            <a:avLst/>
          </a:prstGeom>
          <a:ln w="12700">
            <a:miter lim="400000"/>
          </a:ln>
        </p:spPr>
      </p:pic>
      <p:sp>
        <p:nvSpPr>
          <p:cNvPr id="268" name="Google Shape;330;p81"/>
          <p:cNvSpPr txBox="1"/>
          <p:nvPr/>
        </p:nvSpPr>
        <p:spPr>
          <a:xfrm>
            <a:off x="4597698" y="3505546"/>
            <a:ext cx="2520130" cy="396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 indent="875663">
              <a:def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www.cmcc.it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IMG_FORECAST_WAMI" descr="IMG_FORECAST_WAMI"/>
          <p:cNvPicPr>
            <a:picLocks noChangeAspect="1"/>
          </p:cNvPicPr>
          <p:nvPr/>
        </p:nvPicPr>
        <p:blipFill>
          <a:blip r:embed="rId2">
            <a:extLst/>
          </a:blip>
          <a:srcRect l="1482" t="7267" r="1482" b="0"/>
          <a:stretch>
            <a:fillRect/>
          </a:stretch>
        </p:blipFill>
        <p:spPr>
          <a:xfrm>
            <a:off x="554924" y="1104415"/>
            <a:ext cx="4636942" cy="33234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1" name="IMG_FORECAST_WAMI_PROB" descr="IMG_FORECAST_WAMI_PROB"/>
          <p:cNvPicPr>
            <a:picLocks noChangeAspect="1"/>
          </p:cNvPicPr>
          <p:nvPr/>
        </p:nvPicPr>
        <p:blipFill>
          <a:blip r:embed="rId3">
            <a:extLst/>
          </a:blip>
          <a:srcRect l="249" t="7642" r="249" b="4354"/>
          <a:stretch>
            <a:fillRect/>
          </a:stretch>
        </p:blipFill>
        <p:spPr>
          <a:xfrm>
            <a:off x="5794647" y="1084175"/>
            <a:ext cx="5815220" cy="3363783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Google Shape;188;p42"/>
          <p:cNvSpPr txBox="1"/>
          <p:nvPr>
            <p:ph type="title"/>
          </p:nvPr>
        </p:nvSpPr>
        <p:spPr>
          <a:xfrm>
            <a:off x="330200" y="12700"/>
            <a:ext cx="9017000" cy="990600"/>
          </a:xfrm>
          <a:prstGeom prst="rect">
            <a:avLst/>
          </a:prstGeom>
        </p:spPr>
        <p:txBody>
          <a:bodyPr/>
          <a:lstStyle>
            <a:lvl1pPr algn="l">
              <a:defRPr b="0" sz="2200">
                <a:solidFill>
                  <a:srgbClr val="FE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West Indian Monsoon Index – ThisM ThisY</a:t>
            </a:r>
          </a:p>
        </p:txBody>
      </p:sp>
      <p:pic>
        <p:nvPicPr>
          <p:cNvPr id="273" name="WAMI_ACC_evolution_heatmap.png" descr="WAMI_ACC_evolution_heatmap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847045" y="4459573"/>
            <a:ext cx="4154342" cy="23079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Personalizza struttura">
  <a:themeElements>
    <a:clrScheme name="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Personalizza struttura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Personalizza struttura">
  <a:themeElements>
    <a:clrScheme name="Personalizza struttura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Personalizza struttura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Personalizza struttur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